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Portacontenedores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6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Remolcador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2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Pesquero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1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Granelero</c:v>
                </c:pt>
              </c:strCache>
            </c:strRef>
          </c:tx>
          <c:spPr>
            <a:solidFill>
              <a:srgbClr val="8B5C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1</c:v>
                  </c:pt>
                </c:lvl>
              </c:multiLvlStrCache>
            </c:multiLvl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Tanquero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1</c:v>
                  </c:pt>
                </c:lvl>
              </c:multiLvlStrCache>
            </c:multiLvlStrRef>
          </c:cat>
          <c:val>
            <c:numRef>
              <c:f>Sheet1!$F$2:$F$2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ser>
          <c:idx val="5"/>
          <c:order val="5"/>
          <c:tx>
            <c:strRef>
              <c:f>Sheet1!$G$1</c:f>
              <c:strCache>
                <c:ptCount val="1"/>
                <c:pt idx="0">
                  <c:v>Otros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1</c:v>
                  </c:pt>
                </c:lvl>
              </c:multiLvlStrCache>
            </c:multiLvlStrRef>
          </c:cat>
          <c:val>
            <c:numRef>
              <c:f>Sheet1!$G$2:$G$2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DE TRÁFICO MARÍTIMO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</a:rPr>
              <a:t>Informe DIARIO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TCP Valparaiso  ·  2026-09-30 a 2026-10-01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Operador: Visitante Ejecutivo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0" y="5029200"/>
            <a:ext cx="3931920" cy="54864"/>
          </a:xfrm>
          <a:prstGeom prst="rect">
            <a:avLst/>
          </a:prstGeom>
          <a:solidFill>
            <a:srgbClr val="06B6D4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</a:rPr>
              <a:t>Resumen Ejecutivo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• 12 naves operando en zona VTS durante el período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• 3 buques atracados en muelles TCP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• 3 buques en aproximación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• 5 buques en navegación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• Precisión GPS media con fusión IA: 98.9%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• 4 alertas activas (1 crítica)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• Cumplimiento IALA V-103: 100%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</a:rPr>
              <a:t>Indicadores Clave (KPI)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Buques en Zona VTS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12 naves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59436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↑ +2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2900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Buques Atracados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4 naves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2900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 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256032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Buques en Aproximación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6364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3 naves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26364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↑ +1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61120" y="1188720"/>
            <a:ext cx="256032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1325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Precisión GPS Promedio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09828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98.9 %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098280" y="2468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↑ +0.3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256032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Ocupación de Muelle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4114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78 %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9436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↑ +5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91840" y="3474720"/>
            <a:ext cx="256032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2900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Alertas Activas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29000" y="4114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5 ev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342900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↓ -2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126480" y="3474720"/>
            <a:ext cx="256032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Tiempo Prom. de Espera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4114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2.4 h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26364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59E0B"/>
                </a:solidFill>
              </a:rPr>
              <a:t>↓ -0.6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61120" y="3474720"/>
            <a:ext cx="2560320" cy="182880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098280" y="3611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Cumplimiento IALA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98280" y="4114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2E8F0"/>
                </a:solidFill>
              </a:rPr>
              <a:t>100 %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098280" y="47548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→ 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</a:rPr>
              <a:t>Distribución de Buques por Tipo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1371600"/>
          <a:ext cx="100584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</a:rPr>
              <a:t>Registro de Buques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1463040"/>
                <a:gridCol w="1463040"/>
                <a:gridCol w="1371600"/>
                <a:gridCol w="1371600"/>
              </a:tblGrid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Nombre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MMSI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Tipo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Estado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SOG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Conf.IA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MSC ISABELLA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725003500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container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arrival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12.3 kn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99.2%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EVER GIVEN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636019825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container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moored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0.0 kn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100.0%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CMA CGM JACQUES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538008764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container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underway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8.7 kn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98.5%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SAN ANTONIO EXPRESS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725004200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container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moored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0.0 kn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100.0%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CHIQUITA CANADA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413005600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container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arrival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15.4 kn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97.8%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MAERSK HALIFAX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725005900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container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moored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0.0 kn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100.0%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RANCAGUA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725000120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tug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underway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6.5 kn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99.8%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VALPARAÍSO III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725000135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tug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underway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7.2 kn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99.6%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DONA FRANCISCA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725070034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fishing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underway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4.1 kn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96.5%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NORDIC BREEZE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636099728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bulk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anchored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0.0 kn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99.1%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COSCO SHIPPING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477255400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container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arrival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18.2 kn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98.9%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3868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PACIFIC STAR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369928000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tanker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underway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9.8 kn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97.4%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</a:rPr>
              <a:t>Alertas y Eventos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/>
              <a:tblGrid>
                <a:gridCol w="1828800"/>
                <a:gridCol w="5486400"/>
                <a:gridCol w="1828800"/>
                <a:gridCol w="2103120"/>
              </a:tblGrid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Severidad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Título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Buque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Estado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Aproximación a canal de acceso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MSC ISABELLA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active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Buque pesquero próximo a zona restringida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DONA FRANCISCA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active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CRITICAL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Intento de intrusión cibernética detectado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active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Niebla costera en aproximación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active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MEDIUM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Velocidad de aproximación elevada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COSCO SHIPPING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acknowledged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1845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Discrepancia AIS vs Radar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PACIFIC STAR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2E8F0"/>
                          </a:solidFill>
                        </a:rPr>
                        <a:t>resolved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B6D4"/>
                </a:solidFill>
              </a:rPr>
              <a:t>Cumplimiento Normativo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✓ IALA Recommendation V-103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✓ IMO MSC.428(98) — Cyber Risk Management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✓ ISPS Code — Seguridad Portuaria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✓ SOLAS Capítulo V — Seguridad Navegación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✓ Ley 21.719 — Ciberseguridad (Chile)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✓ Ley 19.628 — Protección de Datos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✓ DS MOPT 1/1941 — CONAMAR
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0B981"/>
                </a:solidFill>
              </a:rPr>
              <a:t>✓ ISO/IEC 27001 · IEC 62443 · NIST CSF 2.0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2026-10-01T01:33:36Z</dcterms:created>
  <dcterms:modified xsi:type="dcterms:W3CDTF">2026-10-01T01:33:36Z</dcterms:modified>
</cp:coreProperties>
</file>